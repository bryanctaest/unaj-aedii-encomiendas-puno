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DM Sans"/>
      <ns0:bold ns1:id="rIdFont17"/>
      <ns0:regular ns1:id="rIdFont18"/>
    </ns0:embeddedFont>
    <ns0:embeddedFont>
      <ns0:font typeface="JetBrains Mono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0344a722-96b2-4c6f-8e7a-099164f3af36.fntdata" /><ns0:Relationship Id="rIdFont18" Type="http://schemas.openxmlformats.org/officeDocument/2006/relationships/font" Target="fonts/4205bf70-2751-4e2d-9644-2e31cf83345d.fntdata" /><ns0:Relationship Id="rIdFont19" Type="http://schemas.openxmlformats.org/officeDocument/2006/relationships/font" Target="fonts/f619387b-de3a-4a7e-bda8-7405e3fef78a.fntdata" /><ns0:Relationship Id="rIdFont20" Type="http://schemas.openxmlformats.org/officeDocument/2006/relationships/font" Target="fonts/2ac8d244-94c2-464f-96f7-59561d9bc8db.fntdata" /><ns0:Relationship Id="rIdFont21" Type="http://schemas.openxmlformats.org/officeDocument/2006/relationships/font" Target="fonts/79356d92-49f8-4d44-bcce-92b293997f9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29275"/>
            <a:ext cx="108204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29275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4393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59E0B"/>
                </a:solidFill>
                <a:latin typeface="Space Grotesk"/>
              </a:rPr>
              <a:t>UNIVERSIDAD NACIONAL DE JULIACA (UNAJ)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34300" y="538162"/>
            <a:ext cx="4457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INGENIERÍA DE SOFTWARE Y SISTEMAS — IV CICLO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21855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ALGORITMOS Y ESTRUCTURAS DE DATOS II • PRODUCTO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45705"/>
            <a:ext cx="9901237" cy="1109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Sistema de Encomiendas y Rutas en Puno con Árbol ABB y Grafo BFS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5569"/>
            <a:ext cx="7905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DM Sans"/>
              </a:rPr>
              <a:t>Gestión jerárquica de paquetes por código de tracking y cálculo de rutas óptimas interprovinciales en Java Swing.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67400"/>
            <a:ext cx="3476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ESTUDIANTE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76950"/>
            <a:ext cx="3476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DM Sans"/>
              </a:rPr>
              <a:t>Bryan Alexander Perez Quispe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4300" y="5867400"/>
            <a:ext cx="3286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DOCENTE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4300" y="6076950"/>
            <a:ext cx="32861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59E0B"/>
                </a:solidFill>
                <a:latin typeface="DM Sans"/>
              </a:rPr>
              <a:t>Ing. Noe Wilber Tipo Mamani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5867400"/>
            <a:ext cx="5000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CÓDIGO DE 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6076950"/>
            <a:ext cx="5000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UNAJ-AEDII-PRODUCTO-I-noe_tipo_bryan_perez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52675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52675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352675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67150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3867150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3867150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JetBrains Mono"/>
              </a:rPr>
              <a:t>01 / ESTRUCTURA DE LA EXPOSICIÓN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Contenido del Informe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590800"/>
            <a:ext cx="37861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7706"/>
                </a:solidFill>
                <a:latin typeface="JetBrains Mono"/>
              </a:rPr>
              <a:t>01. Contenido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962275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Secuencia metodológica del producto académico.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2590800"/>
            <a:ext cx="37861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JetBrains Mono"/>
              </a:rPr>
              <a:t>02.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2962275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Demoras de búsqueda y ruteo en Puno.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2590800"/>
            <a:ext cx="37861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59669"/>
                </a:solidFill>
                <a:latin typeface="JetBrains Mono"/>
              </a:rPr>
              <a:t>03. 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2962275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Metas algorítmicas del sistema en Java Swing.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05275"/>
            <a:ext cx="37861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7C3AED"/>
                </a:solidFill>
                <a:latin typeface="JetBrains Mono"/>
              </a:rPr>
              <a:t>04. Solución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476750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Integración de Árbol ABB y Grafo BFS.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4105275"/>
            <a:ext cx="37861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11D48"/>
                </a:solidFill>
                <a:latin typeface="JetBrains Mono"/>
              </a:rPr>
              <a:t>05. Proyecto (PRY)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44767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Arquitectura de 5 clases y complejidad Big-O.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4105275"/>
            <a:ext cx="37861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JetBrains Mono"/>
              </a:rPr>
              <a:t>06. Conclusión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4476750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Impacto logístico y resultados de eficiencia.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43162"/>
            <a:ext cx="4792712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512" y="2452687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512" y="3176587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512" y="4624387"/>
            <a:ext cx="17145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JetBrains Mono"/>
              </a:rPr>
              <a:t>02 / PLANTEAMIENTO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Cuellos de Botella en Encomiendas de Puno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795587"/>
            <a:ext cx="5109827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b="1" sz="5700" i="0" u="none">
                <a:solidFill>
                  <a:srgbClr val="E11D48"/>
                </a:solidFill>
                <a:latin typeface="Space Grotesk"/>
              </a:rPr>
              <a:t>O(n)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633787"/>
            <a:ext cx="536531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Búsqueda Secuencial Lenta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043362"/>
            <a:ext cx="4183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Las agencias interprovinciales registran envíos en listas desordenadas, revisando paquete por paquete para hallar un código.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9512" y="2428875"/>
            <a:ext cx="5818137" cy="4953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7 Provincias Conectadas: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Juliaca, Puno, Lampa, Pucará, Ayaviri, Azángaro y Huancané.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9512" y="3152775"/>
            <a:ext cx="5818137" cy="4953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Rutas Empíricas: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Despacho de camiones sin cálculo algorítmico del menor número de paradas.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9512" y="3876675"/>
            <a:ext cx="5818137" cy="4953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Sin Reportes Ordenados: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Falta de listados ascendentes instantáneos por código de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9512" y="4600575"/>
            <a:ext cx="5818137" cy="49530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Bajas Ineficientes: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Eliminar un envío entregado desorganiza los registros manuales.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05025"/>
            <a:ext cx="10972800" cy="1314450"/>
          </a:xfrm>
          <a:prstGeom prst="roundRect">
            <a:avLst>
              <a:gd name="adj" fmla="val 1014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686175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686175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686175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962400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962400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962400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JetBrains Mono"/>
              </a:rPr>
              <a:t>03 / PROPÓSITO DEL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Objetivo General y Específicos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1725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BBF24"/>
                </a:solidFill>
                <a:latin typeface="JetBrains Mono"/>
              </a:rPr>
              <a:t>OBJETIVO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0325"/>
            <a:ext cx="10458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DM Sans"/>
              </a:rPr>
              <a:t>Desarrollar un sistema en Java Swing que integre un Árbol ABB y un Grafo BFS para optimizar encomiendas en Puno.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362450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Gestión en Árbol ABB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6863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Programar inserción, búsqueda y eliminación jerárquica por tracking.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362450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Ruteo con Cola BFS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6863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Calcular caminos con menos paradas entre las 7 provincias.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4362450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Interfaz Gráfica Swing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6863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Integrar reportes Inorden y consultas visuales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85962"/>
            <a:ext cx="5314950" cy="3552825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1985962"/>
            <a:ext cx="5314950" cy="3552825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04 / PROPUESTA DE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Arquitectura Híbrida de Estructuras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338387"/>
            <a:ext cx="576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JetBrains Mono"/>
              </a:rPr>
              <a:t>ESTRUCTURA 1 • clsArbolAbb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86037"/>
            <a:ext cx="605075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Árbol Binario de Búsqueda (ABB)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338387"/>
            <a:ext cx="5572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ESTRUCTURA 2 • clsGrafoRutas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2586037"/>
            <a:ext cx="55721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Grafo Regional + Cola FIFO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119437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Clave Primaria: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Ordenado por 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codTracking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entero.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490912"/>
            <a:ext cx="47053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Recursividad: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Caso base 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null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en subárboles izquierdo y derecho.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00512"/>
            <a:ext cx="47053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Recorrido Inorden: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Reporte ascendente automático de paquetes.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710112"/>
            <a:ext cx="47053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Eliminación: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Soporte para hoja, 1 hijo y 2 hijos (sucesor).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3119437"/>
            <a:ext cx="47053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Lista de Adyacencia: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7 vértices provinciales y 8 rutas dobles.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3729037"/>
            <a:ext cx="55721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Cola FIFO: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Implementada con 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ArrayDeque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en Java.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9875" y="4100512"/>
            <a:ext cx="47053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Algoritmo BFS: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Búsqueda en anchura explorando por niveles.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4710112"/>
            <a:ext cx="47053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Ruta Óptima: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Garantiza el menor número de tramos intermedios.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704975"/>
          <a:ext cx="10972798" cy="4343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71725"/>
                <a:gridCol w="2015430"/>
                <a:gridCol w="2524273"/>
                <a:gridCol w="4061370"/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Archivo Java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Rol en el Sistema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Estructuras / Componentes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Métodos Clave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JetBrains Mono"/>
                        </a:rPr>
                        <a:t>clsEncomienda.java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Entidad del paquete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Atributos encapsulados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JetBrains Mono"/>
                        </a:rPr>
                        <a:t>Constructor, Getters, toString()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JetBrains Mono"/>
                        </a:rPr>
                        <a:t>clsArbolAbb.java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Estructura 1 (ABB)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Clase interna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Nodo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 (izq, der)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JetBrains Mono"/>
                        </a:rPr>
                        <a:t>insertar(), buscar(), eliminar(), inorden()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clsGrafoRutas.java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Estructura 2 (Grafo BFS)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Lista Adyacencia +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ArrayDeque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JetBrains Mono"/>
                        </a:rPr>
                        <a:t>agregarRuta(), bfsRutaMasCorta()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7C3AED"/>
                          </a:solidFill>
                          <a:latin typeface="JetBrains Mono"/>
                        </a:rPr>
                        <a:t>frmEncomiendas.java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Ventana Gráfica (GUI)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JFrame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JTextArea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, Botones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JetBrains Mono"/>
                        </a:rPr>
                        <a:t>Eventos de inserción, búsqueda y baja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JetBrains Mono"/>
                        </a:rPr>
                        <a:t>main.java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Inicializador general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Tema Windows + Precarga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JetBrains Mono"/>
                        </a:rPr>
                        <a:t>main() con 8 rutas y 4 paquetes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JetBrains Mono"/>
              </a:rPr>
              <a:t>05 / PROYECTO (PRY) — MODULARIDAD EN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Arquitectura de las 5 Clases del Sistema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JetBrains Mono"/>
              </a:rPr>
              <a:t>05 / PROYECTO (PRY) — ESTRUCTURA JERÁRQUICA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Árbol Binario de Búsqueda (clsArbolAbb)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05 / PROYECTO (PRY) — RED VIAL DE 7 PROVINCIAS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Grafo Regional y Búsqueda en Anchura (BFS)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65078" y="3000375"/>
            <a:ext cx="9525" cy="1524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07200" y="3000375"/>
            <a:ext cx="9525" cy="1524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JetBrains Mono"/>
              </a:rPr>
              <a:t>05 / RENDIMIENTO ALGORÍTMICO (NOTACIÓN BIG-O)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Complejidad Computacional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717" y="2971800"/>
            <a:ext cx="3333750" cy="904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1D4ED8"/>
                </a:solidFill>
                <a:latin typeface="JetBrains Mono"/>
              </a:rPr>
              <a:t>O(h)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374" y="3990975"/>
            <a:ext cx="3500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DM Sans"/>
              </a:rPr>
              <a:t>Búsqueda e Inserción ABB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717" y="43243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DM Sans"/>
              </a:rPr>
              <a:t>Proporcional a la altura del árbol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4261" y="2971800"/>
            <a:ext cx="3393281" cy="904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D97706"/>
                </a:solidFill>
                <a:latin typeface="JetBrains Mono"/>
              </a:rPr>
              <a:t>O(n)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9429" y="3990975"/>
            <a:ext cx="356294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DM Sans"/>
              </a:rPr>
              <a:t>Reporte Ordenado Inorden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4261" y="4324350"/>
            <a:ext cx="33932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DM Sans"/>
              </a:rPr>
              <a:t>Visita lineal de todos los paquetes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6136" y="2971800"/>
            <a:ext cx="4095750" cy="904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59669"/>
                </a:solidFill>
                <a:latin typeface="JetBrains Mono"/>
              </a:rPr>
              <a:t>O(V + 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3742" y="3990975"/>
            <a:ext cx="43005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DM Sans"/>
              </a:rPr>
              <a:t>Ruta Óptima con BFS y Cola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6136" y="4324350"/>
            <a:ext cx="4095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DM Sans"/>
              </a:rPr>
              <a:t>Suma de 7 vértices y 8 aristas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05062" y="4191000"/>
            <a:ext cx="7381875" cy="9525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0" y="1714500"/>
            <a:ext cx="3429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59E0B"/>
                </a:solidFill>
                <a:latin typeface="JetBrains Mono"/>
              </a:rPr>
              <a:t>06 / CONCLUSIONES DEL PRODUCTO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019300"/>
            <a:ext cx="11251406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Space Grotesk"/>
              </a:rPr>
              <a:t>Optimización Logística con Estructuras No Lineales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312" y="3352800"/>
            <a:ext cx="102393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DM Sans"/>
              </a:rPr>
              <a:t>La combinación del Árbol Binario de Búsqueda (ABB) y el Grafo Regional con BFS reduce el tiempo de búsqueda a O(h) y garantiza rutas interprovinciales mínimas en Puno con O(V + 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0484" y="4429125"/>
            <a:ext cx="8251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DM Sans"/>
              </a:rPr>
              <a:t>PRESENTADO POR: </a:t>
            </a:r>
            <a:r>
              <a:rPr b="1" sz="1200" i="0" u="none">
                <a:solidFill>
                  <a:srgbClr val="F8FAFC"/>
                </a:solidFill>
                <a:latin typeface="DM Sans"/>
              </a:rPr>
              <a:t>Bryan Alexander Perez Quispe</a:t>
            </a:r>
            <a:r>
              <a:rPr b="0" sz="1200" i="0" u="none">
                <a:solidFill>
                  <a:srgbClr val="94A3B8"/>
                </a:solidFill>
                <a:latin typeface="DM Sans"/>
              </a:rPr>
              <a:t> • DOCENTE: </a:t>
            </a:r>
            <a:r>
              <a:rPr b="1" sz="1200" i="0" u="none">
                <a:solidFill>
                  <a:srgbClr val="F59E0B"/>
                </a:solidFill>
                <a:latin typeface="DM Sans"/>
              </a:rPr>
              <a:t>Ing. Noe Wilber Tipo Mamani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0484" y="4686300"/>
            <a:ext cx="8251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JetBrains Mono"/>
              </a:rPr>
              <a:t>UNAJ-AEDII-PRODUCTO-I-noe_tipo_bryan_perez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